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9" r:id="rId2"/>
    <p:sldId id="282" r:id="rId3"/>
    <p:sldId id="274" r:id="rId4"/>
    <p:sldId id="275" r:id="rId5"/>
    <p:sldId id="271" r:id="rId6"/>
    <p:sldId id="283" r:id="rId7"/>
    <p:sldId id="276" r:id="rId8"/>
    <p:sldId id="278" r:id="rId9"/>
    <p:sldId id="279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78"/>
  </p:normalViewPr>
  <p:slideViewPr>
    <p:cSldViewPr snapToGrid="0">
      <p:cViewPr>
        <p:scale>
          <a:sx n="130" d="100"/>
          <a:sy n="130" d="100"/>
        </p:scale>
        <p:origin x="496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384ED4-1623-7E48-A67F-B28DBAA9A8BF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9E3921-A15E-944F-915B-EA6CD5EDEE9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8384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9E3921-A15E-944F-915B-EA6CD5EDEE99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8749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10DB49-B40C-1A06-318A-A62A948C85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A07D179-BF8D-E288-A941-BA90088C52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1D9FFAA-8A42-C922-0DAA-D5D652BE6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4D97D-45F9-D246-A86E-9902B3194056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0F3806-04EE-023B-BCB0-D0DB8EA96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8968C3E-C4EB-E926-078B-8A9AB6FE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C197B-789D-C046-84D4-BBA0632EF5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377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521CF2-F7EA-12B8-5D75-BF1C7B477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9F6D49A-C86B-E44F-E7DD-BB1DFF29F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7B597DF-7156-9C60-4420-78B47E1D6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4D97D-45F9-D246-A86E-9902B3194056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87A0D7-8289-B05B-3B81-464078DF3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440F1A8-D9E3-8784-0E30-BADEE5B0B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C197B-789D-C046-84D4-BBA0632EF5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4371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E6F895-0A16-C1FA-66F5-663FD6D53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77BBE76-754C-0AB6-F30A-1E6B8EFA8B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6A09467-1295-F5F9-80B4-2A324D24C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4D97D-45F9-D246-A86E-9902B3194056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F5FF9B1-50E2-133E-F971-C7DE94D7C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77A07BC-730D-45A6-53BF-1B96D0EFF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C197B-789D-C046-84D4-BBA0632EF5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4815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30AD3C-0CB1-9570-94C7-2CE88FDF5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9AD4A3D-45E8-61F2-DBA9-C8E84B823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B06BCF0-15F8-47F3-3DD7-0B78CED8F9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F976337-ECED-20B8-E0AB-CC748A2A4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4D97D-45F9-D246-A86E-9902B3194056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086EDC4-397B-F0CB-F22C-3B102800E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2723ACD-B11A-D3F6-EE59-C1B10AC84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C197B-789D-C046-84D4-BBA0632EF5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2442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437905-5FFB-687E-CC30-E0AACC155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F2C00DA-0754-61D5-F7CB-3F040984E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6E1E6FE-ACD4-6939-966A-B8B223B910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622A9EB-42DE-E34F-0D83-069551B042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9E4DB93-98A3-EA73-93B5-5DD08BD734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6AE7A1D-CAFC-1DCF-2AAB-FE24D305C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4D97D-45F9-D246-A86E-9902B3194056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3DE5C67-6E08-A20D-6AE6-11942E3C6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413F144-4487-EC1F-B655-9D9453262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C197B-789D-C046-84D4-BBA0632EF5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9905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C66E0B-0197-253D-0B74-67EFD6132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390AC80-DB63-36FC-F466-3EFCB0647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4D97D-45F9-D246-A86E-9902B3194056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2C7AC61-5911-EC5E-2530-B1171F40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DD5FB98-CD45-4DD4-FE23-D4A858CA5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C197B-789D-C046-84D4-BBA0632EF5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0211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AB7B41F-023C-9A38-92E2-5BC1B926D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4D97D-45F9-D246-A86E-9902B3194056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A0D88B1-9D90-7EE5-7071-EB1836C08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69BA4BE-A515-97F4-36F9-6FB6BEA2C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C197B-789D-C046-84D4-BBA0632EF5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5587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98FE1D-86BD-FCFC-88A0-0C17CFA2D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6CEE7FE-20E1-18AB-E863-564862497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56FF553-4C20-7311-FEE0-EFA8A03FE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2CF0F29-7E6C-05E4-1207-AB3E2CCB5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4D97D-45F9-D246-A86E-9902B3194056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ED9C521-FFB3-2F32-5658-9F95A0AA1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FEA0E26-23DF-B9A0-7617-004198F26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C197B-789D-C046-84D4-BBA0632EF5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3849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CF1A55-4A3B-2C17-6C36-591A74E45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60E6DE1-EA0B-3075-F261-D42C2A33C0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2ABB493-A298-E7A8-A208-7A9D104430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8B69164-7A0A-AF09-70E6-97F3F02ED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4D97D-45F9-D246-A86E-9902B3194056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75B9ACB-54BD-D87A-3BA5-E1142CB3C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5A7C671-A9C9-53FD-1EE7-000A9F12A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C197B-789D-C046-84D4-BBA0632EF5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6196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A2187F-5A9C-AD39-93BB-76A1BBA24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453E3F3-D048-9FA0-FD67-B1181FC597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5719D17-212B-4464-E87C-7D414007F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4D97D-45F9-D246-A86E-9902B3194056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46956A9-6715-6E50-4D12-C5B1DA8AB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D9427F-F718-0446-404E-E681EE100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C197B-789D-C046-84D4-BBA0632EF5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3895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E14378E-8E48-CC52-632D-99D2D05BFB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D35215D-56D3-1AF4-7950-4EF1402440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44A7FDA-D5FC-9ACC-52AD-730B4880B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4D97D-45F9-D246-A86E-9902B3194056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512BD8E-2125-CDAF-0637-35DFF609D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29D409E-0EAD-7A7E-61DC-534D79125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C197B-789D-C046-84D4-BBA0632EF5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8547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970B585-8A8F-8060-55B9-1B85B0AD0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1CA3561-BC91-9978-459E-3CAC0E9C6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8EC463C-9B15-2F9C-8156-0C45F83A26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34D97D-45F9-D246-A86E-9902B3194056}" type="datetimeFigureOut">
              <a:rPr lang="fr-FR" smtClean="0"/>
              <a:t>11/06/2026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9E3315-8F5E-A9E1-2A7E-963AD02820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0D41D22-2105-7C9A-ABE1-DBEB45166D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BC197B-789D-C046-84D4-BBA0632EF5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6500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81DE69-1170-BC13-A309-4901669E7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23985CC0-9EB0-4C45-A8C9-85D788E1F20E}"/>
              </a:ext>
            </a:extLst>
          </p:cNvPr>
          <p:cNvSpPr txBox="1"/>
          <p:nvPr/>
        </p:nvSpPr>
        <p:spPr>
          <a:xfrm>
            <a:off x="536449" y="996471"/>
            <a:ext cx="4525869" cy="6389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dirty="0">
                <a:latin typeface="Helvetica Neue Light" panose="02000403000000020004" pitchFamily="2" charset="0"/>
                <a:ea typeface="Helvetica Neue Light" panose="02000403000000020004" pitchFamily="2" charset="0"/>
                <a:cs typeface="+mj-cs"/>
              </a:rPr>
              <a:t>User Interface </a:t>
            </a:r>
            <a:r>
              <a:rPr lang="en-US" sz="32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Redesign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94A2E72B-8055-3F70-C614-858E5F2F1335}"/>
              </a:ext>
            </a:extLst>
          </p:cNvPr>
          <p:cNvSpPr txBox="1"/>
          <p:nvPr/>
        </p:nvSpPr>
        <p:spPr>
          <a:xfrm>
            <a:off x="536449" y="2094225"/>
            <a:ext cx="5559551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Redesigned the interface for a cleaner and more intuitive user experience.</a:t>
            </a: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Added prominent buttons for the application’s primary function: Pedigree Creation.</a:t>
            </a: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Organized secondary features into dedicated Learning &amp; Research Tools sections.</a:t>
            </a: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Integrated scientific references and supporting resources.</a:t>
            </a: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Improved navigation, accessibility, and overall usability.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B61E2569-42ED-F747-E1CA-08592C77F1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64" r="745" b="1"/>
          <a:stretch>
            <a:fillRect/>
          </a:stretch>
        </p:blipFill>
        <p:spPr>
          <a:xfrm>
            <a:off x="6096000" y="906888"/>
            <a:ext cx="5453545" cy="4984683"/>
          </a:xfrm>
          <a:prstGeom prst="rect">
            <a:avLst/>
          </a:prstGeom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434FA563-76F6-CDCF-AEA0-A7B78E446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D2E3CAA-F1BA-6695-301D-22564C3828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F3F0F2C-04A5-144D-BDCF-C387072897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37394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356CBEE-4753-B0BF-9F7A-23BA41317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572" y="36600"/>
            <a:ext cx="7436612" cy="4708244"/>
          </a:xfrm>
          <a:prstGeom prst="rect">
            <a:avLst/>
          </a:prstGeom>
          <a:ln>
            <a:noFill/>
          </a:ln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E2FCD939-F307-7689-A5AC-4460A07E2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136" y="4784233"/>
            <a:ext cx="6623580" cy="2037167"/>
          </a:xfrm>
          <a:prstGeom prst="rect">
            <a:avLst/>
          </a:prstGeom>
          <a:ln>
            <a:noFill/>
          </a:ln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310877D-FB56-EB39-DFA8-C3F750F637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57" y="1330725"/>
            <a:ext cx="4475358" cy="3055785"/>
          </a:xfrm>
          <a:prstGeom prst="rect">
            <a:avLst/>
          </a:prstGeom>
          <a:ln>
            <a:noFill/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F1AD5074-FF70-24B8-2B94-5EE96AE6DF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220" y="4550473"/>
            <a:ext cx="2353271" cy="2307527"/>
          </a:xfrm>
          <a:prstGeom prst="rect">
            <a:avLst/>
          </a:prstGeom>
          <a:ln>
            <a:noFill/>
          </a:ln>
        </p:spPr>
      </p:pic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2EA1B56E-B4BE-FB4D-27D2-A7A25BD7EE11}"/>
              </a:ext>
            </a:extLst>
          </p:cNvPr>
          <p:cNvCxnSpPr/>
          <p:nvPr/>
        </p:nvCxnSpPr>
        <p:spPr>
          <a:xfrm>
            <a:off x="4572000" y="36600"/>
            <a:ext cx="0" cy="6821400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9A0877DE-8D15-4B3E-2232-7BB01FE1CC9A}"/>
              </a:ext>
            </a:extLst>
          </p:cNvPr>
          <p:cNvSpPr txBox="1"/>
          <p:nvPr/>
        </p:nvSpPr>
        <p:spPr>
          <a:xfrm>
            <a:off x="-18823" y="-2789"/>
            <a:ext cx="4475355" cy="11695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fr-BE" sz="1400" b="1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Gene Explorer</a:t>
            </a:r>
            <a:b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</a:b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Provides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technical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gene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information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from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trusted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reference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databases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through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integrated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APIs,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supporting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research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activities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and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molecular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genetics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education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75207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BA6A5AD-619A-A563-82F7-F136289E3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754545"/>
            <a:ext cx="5294716" cy="3348907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>
            <a:extLst>
              <a:ext uri="{FF2B5EF4-FFF2-40B4-BE49-F238E27FC236}">
                <a16:creationId xmlns:a16="http://schemas.microsoft.com/office/drawing/2014/main" id="{6ED77DB8-59DD-DDCE-5F56-BB963EF0C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17" y="1668507"/>
            <a:ext cx="5294715" cy="3520985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B968537-F069-563E-D148-3C67BE8D827B}"/>
              </a:ext>
            </a:extLst>
          </p:cNvPr>
          <p:cNvSpPr txBox="1"/>
          <p:nvPr/>
        </p:nvSpPr>
        <p:spPr>
          <a:xfrm>
            <a:off x="477012" y="480057"/>
            <a:ext cx="5429088" cy="11695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fr-BE" sz="1400" b="1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Review</a:t>
            </a:r>
            <a:r>
              <a:rPr lang="fr-BE" sz="1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Explorer</a:t>
            </a:r>
            <a:br>
              <a:rPr lang="fr-BE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Provides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clinically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relevant information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from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trusted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medical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databases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through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integrated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APIs,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including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diagnostic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criteria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, patient management guidelines,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risk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assessment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, and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predictive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medicine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insights.</a:t>
            </a:r>
          </a:p>
        </p:txBody>
      </p:sp>
    </p:spTree>
    <p:extLst>
      <p:ext uri="{BB962C8B-B14F-4D97-AF65-F5344CB8AC3E}">
        <p14:creationId xmlns:p14="http://schemas.microsoft.com/office/powerpoint/2010/main" val="3644957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92D10ACC-1DE2-7563-70A0-F954B9AA2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1452" y="172876"/>
            <a:ext cx="7772400" cy="631560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C7CF4208-1D43-19AB-C27C-73B4BF382EA7}"/>
              </a:ext>
            </a:extLst>
          </p:cNvPr>
          <p:cNvSpPr txBox="1"/>
          <p:nvPr/>
        </p:nvSpPr>
        <p:spPr>
          <a:xfrm>
            <a:off x="265471" y="2348665"/>
            <a:ext cx="3362632" cy="16004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fr-BE" sz="1400" b="1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Resources</a:t>
            </a:r>
            <a:b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</a:b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Provides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access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to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trusted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reference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websites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and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professional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databases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commonly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used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by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healthcare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professionals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,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genetic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counselors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, and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researchers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for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clinical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practice and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education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75958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A1D3F-0C9A-4DB5-4CFA-52E141042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B634EFE0-955E-1DEC-9F2F-F1E14CB25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824771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5D29E00D-7FF5-6878-E6CD-3E98AC2E5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5980" y="3534886"/>
            <a:ext cx="2686936" cy="1922361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27FFD9FE-DC90-758D-52ED-2786D188D8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4771" y="2950765"/>
            <a:ext cx="6122582" cy="3907235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34F3D30C-4CD0-9A84-C569-21BB00DA4151}"/>
              </a:ext>
            </a:extLst>
          </p:cNvPr>
          <p:cNvSpPr txBox="1"/>
          <p:nvPr/>
        </p:nvSpPr>
        <p:spPr>
          <a:xfrm>
            <a:off x="3048000" y="727587"/>
            <a:ext cx="6096000" cy="9541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fr-BE" sz="1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Punnett Square</a:t>
            </a:r>
            <a:br>
              <a:rPr lang="fr-BE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An interactive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learning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tool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that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helps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users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understand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inheritance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patterns by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simulating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different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modes of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genetic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transmission and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visualizing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genotype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and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phenotype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outcomes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4390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B94A0D8F-633E-AEF2-96D4-671CC7BCB3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2330"/>
          <a:stretch>
            <a:fillRect/>
          </a:stretch>
        </p:blipFill>
        <p:spPr>
          <a:xfrm>
            <a:off x="5436286" y="865239"/>
            <a:ext cx="6382089" cy="4640826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A263459B-95E5-7134-DF07-ACAF76D98A99}"/>
              </a:ext>
            </a:extLst>
          </p:cNvPr>
          <p:cNvSpPr txBox="1"/>
          <p:nvPr/>
        </p:nvSpPr>
        <p:spPr>
          <a:xfrm>
            <a:off x="373625" y="1630062"/>
            <a:ext cx="4916130" cy="24622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fr-BE" sz="1400" b="1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Enhanced</a:t>
            </a:r>
            <a:r>
              <a:rPr lang="fr-BE" sz="1400" b="1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Pedigree Display</a:t>
            </a:r>
          </a:p>
          <a:p>
            <a:pPr>
              <a:buNone/>
            </a:pPr>
            <a:endParaRPr lang="fr-BE" sz="1400" b="1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More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comprehensive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pedigree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visualization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fr-BE" sz="1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Added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statistics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and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analytical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indicators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fr-BE" sz="1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Expanded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legend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customization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options.</a:t>
            </a:r>
          </a:p>
          <a:p>
            <a:pPr>
              <a:buFont typeface="Arial" panose="020B0604020202020204" pitchFamily="34" charset="0"/>
              <a:buChar char="•"/>
            </a:pPr>
            <a:endParaRPr lang="fr-BE" sz="1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Support for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overlaying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multiple traits and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characteristics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fr-BE" sz="1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Improved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readability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for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complex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pedigrees.</a:t>
            </a:r>
          </a:p>
        </p:txBody>
      </p:sp>
    </p:spTree>
    <p:extLst>
      <p:ext uri="{BB962C8B-B14F-4D97-AF65-F5344CB8AC3E}">
        <p14:creationId xmlns:p14="http://schemas.microsoft.com/office/powerpoint/2010/main" val="2489082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B6FD00EB-D88D-DD7D-00DE-6CAE9B4B8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3961" y="177208"/>
            <a:ext cx="4693920" cy="3619928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D15A8BB4-D2DF-FD1B-5ED4-DC4B99681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9221" y="4470128"/>
            <a:ext cx="2731688" cy="1498881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59169CA-8800-A822-974A-6FFC126A91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2032"/>
          <a:stretch>
            <a:fillRect/>
          </a:stretch>
        </p:blipFill>
        <p:spPr>
          <a:xfrm>
            <a:off x="8892294" y="177208"/>
            <a:ext cx="3145543" cy="4129322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F7CAB69-8EA1-C971-E189-7B781693F4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9548" y="3316056"/>
            <a:ext cx="4693920" cy="3463286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88742172-B943-F1D5-627F-DDDD8C5B9C84}"/>
              </a:ext>
            </a:extLst>
          </p:cNvPr>
          <p:cNvSpPr txBox="1"/>
          <p:nvPr/>
        </p:nvSpPr>
        <p:spPr>
          <a:xfrm>
            <a:off x="85337" y="1628874"/>
            <a:ext cx="3975385" cy="26776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fr-BE" sz="1400" b="1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Advanced </a:t>
            </a:r>
            <a:r>
              <a:rPr lang="fr-BE" sz="1400" b="1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Analysis</a:t>
            </a:r>
            <a:r>
              <a:rPr lang="fr-BE" sz="1400" b="1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fr-BE" sz="1400" b="1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Features</a:t>
            </a:r>
            <a:endParaRPr lang="fr-BE" sz="1400" b="1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>
              <a:buNone/>
            </a:pPr>
            <a:endParaRPr lang="fr-BE" sz="1400" b="1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Automated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kinship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and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relationship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calculations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fr-BE" sz="1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Detection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and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visualization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of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consanguinity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loops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fr-BE" sz="1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Repositioning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and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reordering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of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individuals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within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the pedigree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fr-BE" sz="1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Improved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pedigree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organization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and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interpretation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7563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6AF5CD36-0FF1-81F0-2D7B-0DE01EDA1F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428"/>
          <a:stretch>
            <a:fillRect/>
          </a:stretch>
        </p:blipFill>
        <p:spPr>
          <a:xfrm>
            <a:off x="7246374" y="2750525"/>
            <a:ext cx="3771699" cy="3431521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D39A4855-947C-D5DA-7994-901F7E269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192" y="2276134"/>
            <a:ext cx="6538117" cy="4380304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060FA6FB-C718-EE3F-93D5-B434DC0A045C}"/>
              </a:ext>
            </a:extLst>
          </p:cNvPr>
          <p:cNvSpPr txBox="1"/>
          <p:nvPr/>
        </p:nvSpPr>
        <p:spPr>
          <a:xfrm>
            <a:off x="412954" y="201562"/>
            <a:ext cx="6096000" cy="20313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fr-BE" sz="1400" b="1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Individual</a:t>
            </a:r>
            <a:r>
              <a:rPr lang="fr-BE" sz="1400" b="1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Report </a:t>
            </a:r>
            <a:r>
              <a:rPr lang="fr-BE" sz="1400" b="1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Generation</a:t>
            </a:r>
            <a:endParaRPr lang="fr-BE" sz="1400" b="1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>
              <a:buNone/>
            </a:pPr>
            <a:endParaRPr lang="fr-BE" sz="1400" b="1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Double-click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on an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individual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to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generate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a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structured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report.</a:t>
            </a:r>
          </a:p>
          <a:p>
            <a:pPr>
              <a:buFont typeface="Arial" panose="020B0604020202020204" pitchFamily="34" charset="0"/>
              <a:buChar char="•"/>
            </a:pPr>
            <a:endParaRPr lang="fr-BE" sz="1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Built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on a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modular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block-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based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architecture.</a:t>
            </a:r>
          </a:p>
          <a:p>
            <a:pPr>
              <a:buFont typeface="Arial" panose="020B0604020202020204" pitchFamily="34" charset="0"/>
              <a:buChar char="•"/>
            </a:pPr>
            <a:endParaRPr lang="fr-BE" sz="1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Integrates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pedigree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findings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,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clinical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information, and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genetic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analysis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fr-BE" sz="1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Designed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to support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clinical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fr-BE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assessment</a:t>
            </a:r>
            <a:r>
              <a:rPr lang="fr-BE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and patient management.</a:t>
            </a:r>
          </a:p>
        </p:txBody>
      </p:sp>
    </p:spTree>
    <p:extLst>
      <p:ext uri="{BB962C8B-B14F-4D97-AF65-F5344CB8AC3E}">
        <p14:creationId xmlns:p14="http://schemas.microsoft.com/office/powerpoint/2010/main" val="3568098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F7C94ED7-B05F-5FB2-E51D-367E8DB09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342" y="931056"/>
            <a:ext cx="5948516" cy="411362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2ECA6587-8424-6ECA-4AB0-6D3BF1A6DE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459"/>
          <a:stretch>
            <a:fillRect/>
          </a:stretch>
        </p:blipFill>
        <p:spPr>
          <a:xfrm>
            <a:off x="6096000" y="744243"/>
            <a:ext cx="5793658" cy="487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90069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268</Words>
  <Application>Microsoft Macintosh PowerPoint</Application>
  <PresentationFormat>Grand écran</PresentationFormat>
  <Paragraphs>44</Paragraphs>
  <Slides>9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Helvetica Neue</vt:lpstr>
      <vt:lpstr>HELVETICA NEUE LIGHT</vt:lpstr>
      <vt:lpstr>HELVETICA NEUE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Marie Bruneau</dc:creator>
  <cp:lastModifiedBy>Marie Bruneau</cp:lastModifiedBy>
  <cp:revision>1</cp:revision>
  <dcterms:created xsi:type="dcterms:W3CDTF">2026-06-11T19:21:50Z</dcterms:created>
  <dcterms:modified xsi:type="dcterms:W3CDTF">2026-06-11T21:33:18Z</dcterms:modified>
</cp:coreProperties>
</file>